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4" r:id="rId1"/>
  </p:sldMasterIdLst>
  <p:sldIdLst>
    <p:sldId id="256" r:id="rId2"/>
    <p:sldId id="265" r:id="rId3"/>
    <p:sldId id="264" r:id="rId4"/>
    <p:sldId id="263" r:id="rId5"/>
    <p:sldId id="262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110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163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714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396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066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51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55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24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279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91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60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1169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884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854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655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29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172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49A14-AA62-4037-AA5F-D5C876979A1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6D875-984D-4B70-BAEF-12AB50701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0007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  <p:sldLayoutId id="2147483977" r:id="rId13"/>
    <p:sldLayoutId id="2147483978" r:id="rId14"/>
    <p:sldLayoutId id="2147483979" r:id="rId15"/>
    <p:sldLayoutId id="2147483980" r:id="rId16"/>
    <p:sldLayoutId id="214748398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6CBE-5E02-9DD9-793C-CB5D2C39F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310"/>
            <a:ext cx="9144000" cy="786428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Workforce Analytics &amp; Utilization Dashboard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991CD-72B2-C73B-CB18-F41BC1C6F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0218"/>
            <a:ext cx="9144000" cy="4298182"/>
          </a:xfrm>
        </p:spPr>
        <p:txBody>
          <a:bodyPr>
            <a:noAutofit/>
          </a:bodyPr>
          <a:lstStyle/>
          <a:p>
            <a:pPr algn="l"/>
            <a:r>
              <a:rPr lang="en-IN" b="1" dirty="0"/>
              <a:t>Business Intelligence Case Study</a:t>
            </a:r>
          </a:p>
          <a:p>
            <a:pPr algn="l"/>
            <a:endParaRPr lang="en-IN" sz="1800" dirty="0"/>
          </a:p>
          <a:p>
            <a:pPr algn="l"/>
            <a:r>
              <a:rPr lang="en-IN" sz="2000" b="1" dirty="0"/>
              <a:t>Tools Used:</a:t>
            </a:r>
          </a:p>
          <a:p>
            <a:pPr algn="l"/>
            <a:r>
              <a:rPr lang="en-IN" sz="1800" dirty="0"/>
              <a:t>Power BI | Python | DAX | Data Analytics</a:t>
            </a:r>
          </a:p>
          <a:p>
            <a:pPr algn="l"/>
            <a:endParaRPr lang="en-IN" sz="1800" dirty="0"/>
          </a:p>
          <a:p>
            <a:pPr algn="l"/>
            <a:r>
              <a:rPr lang="en-IN" sz="2000" b="1" dirty="0"/>
              <a:t>Prepared By:</a:t>
            </a:r>
          </a:p>
          <a:p>
            <a:pPr algn="l"/>
            <a:r>
              <a:rPr lang="en-IN" sz="1800" dirty="0"/>
              <a:t>Akash Kumar</a:t>
            </a:r>
          </a:p>
          <a:p>
            <a:pPr algn="l"/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4E52A8-44E8-1892-175D-7E0A32EAF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572" y="916032"/>
            <a:ext cx="1790855" cy="1066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493665-EAE9-2D65-B04D-E46C471D7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242" y="2893681"/>
            <a:ext cx="1334995" cy="1070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8CD552-BE1D-802A-C829-B09E594AC6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501" y="4700866"/>
            <a:ext cx="1334995" cy="124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75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D31B-1F0C-9F95-3BA0-EF489DBC3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3" y="70157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Business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27D54-4875-2FBA-FDFB-CDE3195EC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68" y="1071716"/>
            <a:ext cx="10515600" cy="55748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200" dirty="0"/>
              <a:t>Business Context</a:t>
            </a:r>
            <a:br>
              <a:rPr lang="en-IN" sz="2400" dirty="0"/>
            </a:br>
            <a:r>
              <a:rPr lang="en-IN" sz="1600" dirty="0"/>
              <a:t>Organizations often struggle to monitor workforce productivity, employee utilization, overtime trends and workforce health across departments.</a:t>
            </a:r>
          </a:p>
          <a:p>
            <a:pPr marL="0" indent="0">
              <a:buNone/>
            </a:pPr>
            <a:r>
              <a:rPr lang="en-IN" sz="1600" dirty="0"/>
              <a:t>Lack of centralized workforce analytics can lead to operational inefficiencies, burnout risks and poor resource planning.</a:t>
            </a:r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r>
              <a:rPr lang="en-IN" sz="2200" dirty="0"/>
              <a:t>Key Challenges</a:t>
            </a:r>
          </a:p>
          <a:p>
            <a:r>
              <a:rPr lang="en-IN" sz="1600" dirty="0"/>
              <a:t>Limited visibility into workforce utilization</a:t>
            </a:r>
          </a:p>
          <a:p>
            <a:r>
              <a:rPr lang="en-IN" sz="1600" dirty="0"/>
              <a:t>Difficulty identifying overutilized and underutilized teams</a:t>
            </a:r>
          </a:p>
          <a:p>
            <a:r>
              <a:rPr lang="en-IN" sz="1600" dirty="0"/>
              <a:t>Lack of proactive attrition and burnout indicators</a:t>
            </a:r>
          </a:p>
          <a:p>
            <a:r>
              <a:rPr lang="en-IN" sz="1600" dirty="0"/>
              <a:t>Inefficient workforce allocation and planning</a:t>
            </a:r>
          </a:p>
          <a:p>
            <a:r>
              <a:rPr lang="en-IN" sz="1600" dirty="0"/>
              <a:t>Inability to track productivity trends over time</a:t>
            </a:r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r>
              <a:rPr lang="en-IN" sz="2200" dirty="0"/>
              <a:t>Project Objective</a:t>
            </a:r>
          </a:p>
          <a:p>
            <a:pPr marL="0" indent="0">
              <a:buNone/>
            </a:pPr>
            <a:r>
              <a:rPr lang="en-IN" sz="1600" dirty="0"/>
              <a:t>Build an interactive workforce analytics solution to monitor productivity, utilization, employee health, and operational efficiency through KPI-driven dashboards and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1841269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1A0F-2246-4E3A-2BBF-3344D5D20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191729"/>
            <a:ext cx="10515600" cy="486697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557E1-377D-C05B-A56B-CDDFFD196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74" y="934065"/>
            <a:ext cx="10515600" cy="58010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dirty="0"/>
              <a:t>Dataset Summary</a:t>
            </a:r>
            <a:br>
              <a:rPr lang="en-IN" sz="4000" dirty="0"/>
            </a:br>
            <a:r>
              <a:rPr lang="en-IN" sz="1600" dirty="0"/>
              <a:t>Workforce dataset representing approximately 10,000 employees. </a:t>
            </a:r>
          </a:p>
          <a:p>
            <a:pPr marL="0" indent="0">
              <a:buNone/>
            </a:pPr>
            <a:r>
              <a:rPr lang="en-IN" sz="1600" dirty="0"/>
              <a:t>Historical workforce activity spanning 2 years</a:t>
            </a:r>
          </a:p>
          <a:p>
            <a:pPr marL="0" indent="0">
              <a:buNone/>
            </a:pPr>
            <a:r>
              <a:rPr lang="en-IN" sz="1600" dirty="0"/>
              <a:t>Employee master data combined with monthly utilization records</a:t>
            </a:r>
          </a:p>
          <a:p>
            <a:pPr marL="0" indent="0">
              <a:buNone/>
            </a:pPr>
            <a:r>
              <a:rPr lang="en-IN" sz="1600" dirty="0"/>
              <a:t>Dataset designed to simulate enterprise workforce operations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dirty="0"/>
              <a:t>Key Workforce Metrics</a:t>
            </a:r>
          </a:p>
          <a:p>
            <a:pPr marL="0" indent="0">
              <a:buNone/>
            </a:pPr>
            <a:r>
              <a:rPr lang="en-IN" sz="1600" dirty="0"/>
              <a:t>Billable Hours, Non-Billable Hours, Leave Hours, G&amp;A Hours, Overtime Hours, Utilization %, Performance Rating, Attrition Risk Indicators and so on.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2400" dirty="0"/>
              <a:t>Data Model</a:t>
            </a:r>
          </a:p>
          <a:p>
            <a:pPr marL="0" indent="0">
              <a:buNone/>
            </a:pPr>
            <a:r>
              <a:rPr lang="en-IN" sz="1600" dirty="0"/>
              <a:t>The solution follows a star schema model consisting of:</a:t>
            </a:r>
            <a:br>
              <a:rPr lang="en-IN" sz="1600" dirty="0"/>
            </a:br>
            <a:r>
              <a:rPr lang="en-IN" sz="1600" dirty="0"/>
              <a:t>Employee Master Dimension Table</a:t>
            </a:r>
          </a:p>
          <a:p>
            <a:pPr marL="0" indent="0">
              <a:buNone/>
            </a:pPr>
            <a:r>
              <a:rPr lang="en-IN" sz="1600" dirty="0"/>
              <a:t>Monthly Workforce Fact Table</a:t>
            </a:r>
          </a:p>
          <a:p>
            <a:pPr marL="0" indent="0">
              <a:buNone/>
            </a:pPr>
            <a:r>
              <a:rPr lang="en-IN" sz="1600" dirty="0"/>
              <a:t>Date Dimension Table</a:t>
            </a:r>
          </a:p>
          <a:p>
            <a:pPr marL="0" indent="0">
              <a:buNone/>
            </a:pPr>
            <a:r>
              <a:rPr lang="en-IN" sz="1600" i="1" dirty="0"/>
              <a:t>Note: Relationships were established to support time intelligence and KPI-driven analytics.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F8BDE9-3F6A-A85F-9B0E-8132CB11E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57" y="783772"/>
            <a:ext cx="2198914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97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8F941-2F7D-AB4B-9AC0-A43FDE8FA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9782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Project Approach &amp;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A305-8DE8-4997-249E-FD3BC47AA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" y="816076"/>
            <a:ext cx="10515600" cy="59485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Project workflow</a:t>
            </a:r>
            <a:br>
              <a:rPr lang="en-IN" sz="6000" dirty="0"/>
            </a:br>
            <a:r>
              <a:rPr lang="en-IN" sz="1900" dirty="0"/>
              <a:t>1. Data Collection &amp; Integration </a:t>
            </a:r>
          </a:p>
          <a:p>
            <a:pPr marL="0" indent="0">
              <a:buNone/>
            </a:pPr>
            <a:r>
              <a:rPr lang="en-IN" sz="1900" dirty="0"/>
              <a:t>2. Exploratory Data Analysis using Python </a:t>
            </a:r>
          </a:p>
          <a:p>
            <a:pPr marL="0" indent="0">
              <a:buNone/>
            </a:pPr>
            <a:r>
              <a:rPr lang="en-IN" sz="1900" dirty="0"/>
              <a:t>3. Data Modelling &amp; KPI Development in Power BI </a:t>
            </a:r>
          </a:p>
          <a:p>
            <a:pPr marL="0" indent="0">
              <a:buNone/>
            </a:pPr>
            <a:r>
              <a:rPr lang="en-IN" sz="1900" dirty="0"/>
              <a:t>4. Dashboard Design &amp; Interactive Reporting </a:t>
            </a:r>
          </a:p>
          <a:p>
            <a:pPr marL="0" indent="0">
              <a:buNone/>
            </a:pPr>
            <a:r>
              <a:rPr lang="en-IN" sz="1900" dirty="0"/>
              <a:t>5. Business Insight Generation &amp; Recommendations</a:t>
            </a:r>
          </a:p>
          <a:p>
            <a:pPr marL="0" indent="0">
              <a:buNone/>
            </a:pPr>
            <a:endParaRPr lang="en-IN" sz="3800" dirty="0"/>
          </a:p>
          <a:p>
            <a:pPr marL="0" indent="0">
              <a:buNone/>
            </a:pPr>
            <a:r>
              <a:rPr lang="en-IN" dirty="0"/>
              <a:t>Tools &amp; Technologies</a:t>
            </a:r>
          </a:p>
          <a:p>
            <a:pPr marL="0" indent="0">
              <a:buNone/>
            </a:pPr>
            <a:r>
              <a:rPr lang="en-IN" sz="1900" dirty="0"/>
              <a:t>Python &amp; Pandas → Exploratory Data Analysis </a:t>
            </a:r>
          </a:p>
          <a:p>
            <a:pPr marL="0" indent="0">
              <a:buNone/>
            </a:pPr>
            <a:r>
              <a:rPr lang="en-IN" sz="1900" dirty="0"/>
              <a:t>Matplotlib → Trend &amp; Statistical Visualization  </a:t>
            </a:r>
          </a:p>
          <a:p>
            <a:pPr marL="0" indent="0">
              <a:buNone/>
            </a:pPr>
            <a:r>
              <a:rPr lang="en-IN" sz="1900" dirty="0"/>
              <a:t>Power BI → Dashboarding &amp; Business Intelligence  </a:t>
            </a:r>
          </a:p>
          <a:p>
            <a:pPr marL="0" indent="0">
              <a:buNone/>
            </a:pPr>
            <a:r>
              <a:rPr lang="en-IN" sz="1900" dirty="0"/>
              <a:t>DAX → KPI Calculations &amp; Time Intelligence </a:t>
            </a:r>
          </a:p>
          <a:p>
            <a:pPr marL="0" indent="0">
              <a:buNone/>
            </a:pPr>
            <a:r>
              <a:rPr lang="en-IN" sz="1900" dirty="0"/>
              <a:t>Star Schema </a:t>
            </a:r>
            <a:r>
              <a:rPr lang="en-IN" sz="1900" dirty="0" err="1"/>
              <a:t>Modeling</a:t>
            </a:r>
            <a:r>
              <a:rPr lang="en-IN" sz="1900" dirty="0"/>
              <a:t> → Scalable Analytical Structure</a:t>
            </a:r>
          </a:p>
        </p:txBody>
      </p:sp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869F3470-D71B-563F-FAF3-90E44F71CB77}"/>
              </a:ext>
            </a:extLst>
          </p:cNvPr>
          <p:cNvSpPr/>
          <p:nvPr/>
        </p:nvSpPr>
        <p:spPr>
          <a:xfrm>
            <a:off x="8534400" y="1265525"/>
            <a:ext cx="2177142" cy="797822"/>
          </a:xfrm>
          <a:prstGeom prst="downArrowCallou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shade val="15000"/>
                <a:alpha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Raw Data</a:t>
            </a:r>
            <a:endParaRPr lang="en-IN" dirty="0"/>
          </a:p>
        </p:txBody>
      </p:sp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FD718D41-7ECF-4564-A04A-4AFA845BD2A2}"/>
              </a:ext>
            </a:extLst>
          </p:cNvPr>
          <p:cNvSpPr/>
          <p:nvPr/>
        </p:nvSpPr>
        <p:spPr>
          <a:xfrm>
            <a:off x="8534400" y="2052814"/>
            <a:ext cx="2177142" cy="797822"/>
          </a:xfrm>
          <a:prstGeom prst="downArrowCallou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Python EDA</a:t>
            </a:r>
            <a:endParaRPr lang="en-IN" dirty="0"/>
          </a:p>
        </p:txBody>
      </p:sp>
      <p:sp>
        <p:nvSpPr>
          <p:cNvPr id="8" name="Callout: Down Arrow 7">
            <a:extLst>
              <a:ext uri="{FF2B5EF4-FFF2-40B4-BE49-F238E27FC236}">
                <a16:creationId xmlns:a16="http://schemas.microsoft.com/office/drawing/2014/main" id="{EDED3FC3-ED13-2D71-60A5-4872EB3BB454}"/>
              </a:ext>
            </a:extLst>
          </p:cNvPr>
          <p:cNvSpPr/>
          <p:nvPr/>
        </p:nvSpPr>
        <p:spPr>
          <a:xfrm>
            <a:off x="8534400" y="2850636"/>
            <a:ext cx="2177142" cy="797822"/>
          </a:xfrm>
          <a:prstGeom prst="downArrowCallou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PBI Model</a:t>
            </a:r>
            <a:endParaRPr lang="en-IN" dirty="0"/>
          </a:p>
        </p:txBody>
      </p:sp>
      <p:sp>
        <p:nvSpPr>
          <p:cNvPr id="10" name="Callout: Down Arrow 9">
            <a:extLst>
              <a:ext uri="{FF2B5EF4-FFF2-40B4-BE49-F238E27FC236}">
                <a16:creationId xmlns:a16="http://schemas.microsoft.com/office/drawing/2014/main" id="{65412AA4-984D-2FF0-56CF-BF030E16E9CC}"/>
              </a:ext>
            </a:extLst>
          </p:cNvPr>
          <p:cNvSpPr/>
          <p:nvPr/>
        </p:nvSpPr>
        <p:spPr>
          <a:xfrm>
            <a:off x="8534400" y="4446280"/>
            <a:ext cx="2177142" cy="797822"/>
          </a:xfrm>
          <a:prstGeom prst="downArrowCallou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Visualization</a:t>
            </a:r>
            <a:endParaRPr lang="en-IN" dirty="0"/>
          </a:p>
        </p:txBody>
      </p:sp>
      <p:sp>
        <p:nvSpPr>
          <p:cNvPr id="12" name="Callout: Down Arrow 11">
            <a:extLst>
              <a:ext uri="{FF2B5EF4-FFF2-40B4-BE49-F238E27FC236}">
                <a16:creationId xmlns:a16="http://schemas.microsoft.com/office/drawing/2014/main" id="{B17D16A9-1E00-9871-9CCE-E6907981CBE1}"/>
              </a:ext>
            </a:extLst>
          </p:cNvPr>
          <p:cNvSpPr/>
          <p:nvPr/>
        </p:nvSpPr>
        <p:spPr>
          <a:xfrm>
            <a:off x="8534400" y="3648458"/>
            <a:ext cx="2177142" cy="797822"/>
          </a:xfrm>
          <a:prstGeom prst="downArrowCallou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DAX KPIs</a:t>
            </a:r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1FAB11-1C66-B071-70EB-58F3FAFBEFD2}"/>
              </a:ext>
            </a:extLst>
          </p:cNvPr>
          <p:cNvSpPr/>
          <p:nvPr/>
        </p:nvSpPr>
        <p:spPr>
          <a:xfrm>
            <a:off x="8534400" y="5243957"/>
            <a:ext cx="2177142" cy="69703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Business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15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95ECE-9AE1-0555-B0B2-FBC50054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233"/>
            <a:ext cx="10515600" cy="54927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Executive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91517-8939-A4F2-F00B-FBA5C7C35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1" y="4601497"/>
            <a:ext cx="5503606" cy="209427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400" dirty="0"/>
              <a:t>Key Executive KPIs</a:t>
            </a:r>
          </a:p>
          <a:p>
            <a:pPr marL="0" indent="0">
              <a:buNone/>
            </a:pPr>
            <a:r>
              <a:rPr lang="en-IN" sz="1600" dirty="0"/>
              <a:t>Workforce Utilization Monitoring</a:t>
            </a:r>
            <a:br>
              <a:rPr lang="en-IN" sz="1600" dirty="0"/>
            </a:br>
            <a:r>
              <a:rPr lang="en-IN" sz="1600" dirty="0"/>
              <a:t>Billable vs Non-Billable Analysis</a:t>
            </a:r>
            <a:br>
              <a:rPr lang="en-IN" sz="1600" dirty="0"/>
            </a:br>
            <a:r>
              <a:rPr lang="en-IN" sz="1600" dirty="0"/>
              <a:t>Overtime &amp; Productivity Tracking</a:t>
            </a:r>
            <a:br>
              <a:rPr lang="en-IN" sz="1600" dirty="0"/>
            </a:br>
            <a:r>
              <a:rPr lang="en-IN" sz="1600" dirty="0"/>
              <a:t>Workforce Capacity Visibility</a:t>
            </a:r>
            <a:br>
              <a:rPr lang="en-IN" sz="1600" dirty="0"/>
            </a:br>
            <a:r>
              <a:rPr lang="en-IN" sz="1600" dirty="0"/>
              <a:t>Department-Level Performance Insights</a:t>
            </a:r>
          </a:p>
          <a:p>
            <a:pPr marL="0" indent="0">
              <a:buNone/>
            </a:pPr>
            <a:r>
              <a:rPr lang="en-IN" sz="1600" dirty="0"/>
              <a:t>Interactive Time-Based Trend Analysis</a:t>
            </a:r>
            <a:br>
              <a:rPr lang="en-IN" sz="1600" dirty="0"/>
            </a:b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D3B09-4E8B-4BE1-CB6A-90EED2181A70}"/>
              </a:ext>
            </a:extLst>
          </p:cNvPr>
          <p:cNvSpPr txBox="1"/>
          <p:nvPr/>
        </p:nvSpPr>
        <p:spPr>
          <a:xfrm>
            <a:off x="6390966" y="4601497"/>
            <a:ext cx="55036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Business Value Delivered</a:t>
            </a:r>
            <a:br>
              <a:rPr lang="en-IN" dirty="0"/>
            </a:br>
            <a:r>
              <a:rPr lang="en-IN" sz="1600" dirty="0"/>
              <a:t>The dashboard enables leadership teams to monitor workforce productivity, identify operational inefficiencies and proactively manage workforce performance.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F2FB2-136C-115A-219E-3F14C0299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57" y="779175"/>
            <a:ext cx="7402285" cy="347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CCA1-37D3-8EBD-9C3F-D93AEC32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E187-AA9C-7C62-5AD5-75C62A9E1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9" y="256970"/>
            <a:ext cx="10515600" cy="5492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IN" sz="3200" b="1" dirty="0" err="1">
                <a:solidFill>
                  <a:schemeClr val="accent1">
                    <a:lumMod val="75000"/>
                  </a:schemeClr>
                </a:solidFill>
              </a:rPr>
              <a:t>roductivity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BDBA4-2721-8ADE-1FEE-2FB27123B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49" y="4336026"/>
            <a:ext cx="5710086" cy="234990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100" dirty="0"/>
              <a:t>Key Productivity Insights</a:t>
            </a:r>
          </a:p>
          <a:p>
            <a:pPr marL="0" indent="0">
              <a:buNone/>
            </a:pPr>
            <a:r>
              <a:rPr lang="en-IN" sz="1900" dirty="0"/>
              <a:t>Significant utilization variation observed across departments</a:t>
            </a:r>
            <a:br>
              <a:rPr lang="en-IN" sz="1900" dirty="0"/>
            </a:br>
            <a:r>
              <a:rPr lang="en-IN" sz="1900" dirty="0"/>
              <a:t>Top-performing teams demonstrated consistently high billable contribution</a:t>
            </a:r>
            <a:br>
              <a:rPr lang="en-IN" sz="1900" dirty="0"/>
            </a:br>
            <a:r>
              <a:rPr lang="en-IN" sz="1900" dirty="0"/>
              <a:t>Certain business units showed lower utilization efficiency, indicating resource optimization opportunities</a:t>
            </a:r>
          </a:p>
          <a:p>
            <a:pPr marL="0" indent="0">
              <a:buNone/>
            </a:pPr>
            <a:r>
              <a:rPr lang="en-IN" sz="1900" dirty="0"/>
              <a:t>Overtime concentration identified in highly utilized operational teams</a:t>
            </a:r>
          </a:p>
          <a:p>
            <a:pPr marL="0" indent="0">
              <a:buNone/>
            </a:pPr>
            <a:r>
              <a:rPr lang="en-IN" sz="1900" dirty="0"/>
              <a:t>Productivity trends highlighted workforce allocation imbalance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3CC02-17A7-2F4A-39CB-03819437D734}"/>
              </a:ext>
            </a:extLst>
          </p:cNvPr>
          <p:cNvSpPr txBox="1"/>
          <p:nvPr/>
        </p:nvSpPr>
        <p:spPr>
          <a:xfrm>
            <a:off x="6390967" y="4336026"/>
            <a:ext cx="55036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Analytical Focus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Top N / Bottom N Department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Workforce Utilization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Overtime Impact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Billable Efficiency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Department-Level Trend Comparison</a:t>
            </a:r>
            <a:br>
              <a:rPr lang="en-IN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04FFC0-7BC6-4959-1EE5-65F6BB714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597" y="806245"/>
            <a:ext cx="4912875" cy="337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32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67CB-CD59-D3E1-1252-01552254C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6364-01D0-935A-366D-3201A084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9" y="256970"/>
            <a:ext cx="10515600" cy="5492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Attrition &amp; Workforce Health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7582E-CAC1-C95F-52FE-2FB465E1A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4" y="4336026"/>
            <a:ext cx="5710086" cy="24482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Key Workforce Health Insights</a:t>
            </a:r>
          </a:p>
          <a:p>
            <a:r>
              <a:rPr lang="en-IN" sz="1400" dirty="0"/>
              <a:t>Elevated overtime patterns identified across highly utilized teams</a:t>
            </a:r>
          </a:p>
          <a:p>
            <a:r>
              <a:rPr lang="en-IN" sz="1400" dirty="0"/>
              <a:t>Increased leave trends may indicate workforce fatigue concentration</a:t>
            </a:r>
          </a:p>
          <a:p>
            <a:r>
              <a:rPr lang="en-IN" sz="1400" dirty="0"/>
              <a:t>Certain employee groups demonstrated higher attrition risk indicators </a:t>
            </a:r>
          </a:p>
          <a:p>
            <a:r>
              <a:rPr lang="en-IN" sz="1400" dirty="0"/>
              <a:t>Workforce health metrics revealed potential operational pressure zones</a:t>
            </a:r>
          </a:p>
          <a:p>
            <a:r>
              <a:rPr lang="en-IN" sz="1400" dirty="0"/>
              <a:t>Sustained overtime exposure may negatively impact long-term productivity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198878-FA66-4F07-B8B2-68F4E8C05FCD}"/>
              </a:ext>
            </a:extLst>
          </p:cNvPr>
          <p:cNvSpPr txBox="1"/>
          <p:nvPr/>
        </p:nvSpPr>
        <p:spPr>
          <a:xfrm>
            <a:off x="6390967" y="4336026"/>
            <a:ext cx="55036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Business Impact</a:t>
            </a:r>
          </a:p>
          <a:p>
            <a:r>
              <a:rPr lang="en-IN" sz="1600" dirty="0"/>
              <a:t>The analysis enables proactive workforce management by helping leadership identify burnout risks, optimize workforce planning, and improve employee retention strategies.</a:t>
            </a:r>
            <a:br>
              <a:rPr lang="en-IN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B230E0-A407-4CA8-0B47-FD1FE5943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260" y="806245"/>
            <a:ext cx="4789479" cy="333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62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9989-739D-C28D-9CC1-8328F04B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4B54-B55F-E14C-D12D-5BE5F0427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9" y="256970"/>
            <a:ext cx="10515600" cy="5492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Key Business Insights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640B2-E08D-56F0-1C38-000B4097C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4" y="4336026"/>
            <a:ext cx="5710086" cy="24482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Workforce Health</a:t>
            </a:r>
          </a:p>
          <a:p>
            <a:pPr marL="0" indent="0">
              <a:buNone/>
            </a:pPr>
            <a:r>
              <a:rPr lang="en-IN" sz="1600" dirty="0"/>
              <a:t>Sustained overtime exposure combined with elevated leave trends suggested potential burnout concentration within highly utilized employee groups.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69AEDA-08A7-CDE3-C0DE-2C0FF3D7FC21}"/>
              </a:ext>
            </a:extLst>
          </p:cNvPr>
          <p:cNvSpPr txBox="1"/>
          <p:nvPr/>
        </p:nvSpPr>
        <p:spPr>
          <a:xfrm>
            <a:off x="6096000" y="4336026"/>
            <a:ext cx="550360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Strategic Risk Indicators</a:t>
            </a:r>
          </a:p>
          <a:p>
            <a:r>
              <a:rPr lang="en-IN" dirty="0"/>
              <a:t>Attrition indicators and workforce imbalance patterns highlighted the need for proactive workforce planning, capacity optimization, and employee retention initiatives.</a:t>
            </a:r>
            <a:br>
              <a:rPr lang="en-IN" dirty="0"/>
            </a:b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22C5D8-F538-2C22-1AA0-38236660053E}"/>
              </a:ext>
            </a:extLst>
          </p:cNvPr>
          <p:cNvSpPr txBox="1">
            <a:spLocks/>
          </p:cNvSpPr>
          <p:nvPr/>
        </p:nvSpPr>
        <p:spPr>
          <a:xfrm>
            <a:off x="263011" y="1184787"/>
            <a:ext cx="5710086" cy="24482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dirty="0"/>
              <a:t>Workforce Utilization</a:t>
            </a:r>
          </a:p>
          <a:p>
            <a:pPr marL="0" indent="0">
              <a:buNone/>
            </a:pPr>
            <a:r>
              <a:rPr lang="en-IN" sz="1600" dirty="0"/>
              <a:t>High variation in workforce utilization was observed across departments, indicating workload imbalance and resource optimization opportunities.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312572-B15C-1725-C3EF-549D7D3D0C6B}"/>
              </a:ext>
            </a:extLst>
          </p:cNvPr>
          <p:cNvSpPr txBox="1">
            <a:spLocks/>
          </p:cNvSpPr>
          <p:nvPr/>
        </p:nvSpPr>
        <p:spPr>
          <a:xfrm>
            <a:off x="6096000" y="1184787"/>
            <a:ext cx="5710086" cy="24482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dirty="0"/>
              <a:t>Productivity Trends </a:t>
            </a:r>
          </a:p>
          <a:p>
            <a:pPr marL="0" indent="0">
              <a:buNone/>
            </a:pPr>
            <a:r>
              <a:rPr lang="en-IN" sz="1400" dirty="0"/>
              <a:t>Top-performing departments consistently demonstrated higher billable contribution and stronger utilization efficiency compared to underperforming business units.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3437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A3DD-E7CB-79B0-75EC-9FDCE760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F284-FD28-120B-6E63-4B16EC945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9" y="256970"/>
            <a:ext cx="10515600" cy="54927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8E5-5A73-7AF6-1D67-38C69681B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4" y="4336026"/>
            <a:ext cx="5710086" cy="24482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Strengthen Employee Retention</a:t>
            </a:r>
          </a:p>
          <a:p>
            <a:pPr marL="0" indent="0">
              <a:buNone/>
            </a:pPr>
            <a:r>
              <a:rPr lang="en-IN" sz="1600" dirty="0"/>
              <a:t>Introduce workforce wellness and employee engagement initiatives for high-risk operational teams.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9CC070-CFB3-F05C-C974-8E882197EC0C}"/>
              </a:ext>
            </a:extLst>
          </p:cNvPr>
          <p:cNvSpPr txBox="1"/>
          <p:nvPr/>
        </p:nvSpPr>
        <p:spPr>
          <a:xfrm>
            <a:off x="6096000" y="4336026"/>
            <a:ext cx="55036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Enhance Workforce Intelligence</a:t>
            </a:r>
          </a:p>
          <a:p>
            <a:r>
              <a:rPr lang="en-IN" dirty="0"/>
              <a:t>Leverage KPI-driven dashboards for continuous workforce monitoring, capacity planning, and leadership decision support.</a:t>
            </a:r>
            <a:br>
              <a:rPr lang="en-IN" dirty="0"/>
            </a:b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23F311-77C6-4EA9-A41B-C4B92D0E64E2}"/>
              </a:ext>
            </a:extLst>
          </p:cNvPr>
          <p:cNvSpPr txBox="1">
            <a:spLocks/>
          </p:cNvSpPr>
          <p:nvPr/>
        </p:nvSpPr>
        <p:spPr>
          <a:xfrm>
            <a:off x="263011" y="1184787"/>
            <a:ext cx="5710086" cy="24482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dirty="0"/>
              <a:t>Optimize Workforce Allocation</a:t>
            </a:r>
          </a:p>
          <a:p>
            <a:pPr marL="0" indent="0">
              <a:buNone/>
            </a:pPr>
            <a:r>
              <a:rPr lang="en-IN" sz="1600" dirty="0"/>
              <a:t>Rebalance workload distribution across departments to reduce utilization imbalance and improve operational efficiency.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F059FD-02AE-5299-2A86-976CD41EC7FA}"/>
              </a:ext>
            </a:extLst>
          </p:cNvPr>
          <p:cNvSpPr txBox="1">
            <a:spLocks/>
          </p:cNvSpPr>
          <p:nvPr/>
        </p:nvSpPr>
        <p:spPr>
          <a:xfrm>
            <a:off x="6096000" y="1184787"/>
            <a:ext cx="5710086" cy="24482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dirty="0"/>
              <a:t>Monitor High Overtime Exposure</a:t>
            </a:r>
          </a:p>
          <a:p>
            <a:pPr marL="0" indent="0">
              <a:buNone/>
            </a:pPr>
            <a:r>
              <a:rPr lang="en-IN" sz="1400" dirty="0"/>
              <a:t>Implement proactive monitoring for employee groups with sustained overtime concentration to reduce burnout risk.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96889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AE4E3-8507-0010-F66C-B0E658451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EC36-26FD-0066-0EB7-207591669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9" y="256970"/>
            <a:ext cx="10515600" cy="5492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IN" sz="3200" b="1" dirty="0" err="1">
                <a:solidFill>
                  <a:schemeClr val="accent1">
                    <a:lumMod val="75000"/>
                  </a:schemeClr>
                </a:solidFill>
              </a:rPr>
              <a:t>uture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 Enhancements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094C2D-97B0-C2D7-8B55-5454EFFBE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179654"/>
            <a:ext cx="10515600" cy="28024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300" dirty="0"/>
              <a:t>• Predictive Attrition </a:t>
            </a:r>
            <a:r>
              <a:rPr lang="en-IN" sz="2300" dirty="0" err="1"/>
              <a:t>Modeling</a:t>
            </a:r>
            <a:r>
              <a:rPr lang="en-IN" sz="2300" dirty="0"/>
              <a:t> using Machine Learning</a:t>
            </a:r>
          </a:p>
          <a:p>
            <a:pPr marL="0" indent="0">
              <a:buNone/>
            </a:pPr>
            <a:r>
              <a:rPr lang="en-IN" sz="2300" dirty="0"/>
              <a:t>• Workforce Demand Forecasting &amp; Capacity Planning</a:t>
            </a:r>
          </a:p>
          <a:p>
            <a:pPr marL="0" indent="0">
              <a:buNone/>
            </a:pPr>
            <a:r>
              <a:rPr lang="en-IN" sz="2300" dirty="0"/>
              <a:t>• Real-Time Data Integration using Cloud Pipelines</a:t>
            </a:r>
          </a:p>
          <a:p>
            <a:pPr marL="0" indent="0">
              <a:buNone/>
            </a:pPr>
            <a:r>
              <a:rPr lang="en-IN" sz="2300" dirty="0"/>
              <a:t>• Advanced Employee Sentiment &amp; Engagement Analytics</a:t>
            </a:r>
          </a:p>
          <a:p>
            <a:pPr marL="0" indent="0">
              <a:buNone/>
            </a:pPr>
            <a:r>
              <a:rPr lang="en-IN" sz="2300" dirty="0"/>
              <a:t>• AI-Driven Workforce Risk Scoring</a:t>
            </a:r>
          </a:p>
          <a:p>
            <a:pPr marL="0" indent="0">
              <a:buNone/>
            </a:pPr>
            <a:r>
              <a:rPr lang="en-IN" sz="2300" dirty="0"/>
              <a:t>• Automated Executive Reporting &amp; Alerts</a:t>
            </a:r>
          </a:p>
          <a:p>
            <a:endParaRPr lang="en-IN" sz="4900" dirty="0"/>
          </a:p>
          <a:p>
            <a:pPr marL="0" indent="0">
              <a:buNone/>
            </a:pPr>
            <a:endParaRPr lang="en-IN" sz="49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948D0C-C791-D4FB-E9B5-567D7220A50B}"/>
              </a:ext>
            </a:extLst>
          </p:cNvPr>
          <p:cNvSpPr txBox="1">
            <a:spLocks/>
          </p:cNvSpPr>
          <p:nvPr/>
        </p:nvSpPr>
        <p:spPr>
          <a:xfrm>
            <a:off x="385914" y="4281949"/>
            <a:ext cx="11039170" cy="1671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dirty="0"/>
              <a:t>Project Outcome</a:t>
            </a:r>
          </a:p>
          <a:p>
            <a:pPr marL="0" indent="0">
              <a:buNone/>
            </a:pPr>
            <a:r>
              <a:rPr lang="en-IN" sz="1600" dirty="0"/>
              <a:t>The project successfully demonstrated how workforce analytics and business intelligence can support data-driven decision making, operational efficiency, and proactive workforce management.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9374C-5847-F1E0-CF30-8437FED5AC48}"/>
              </a:ext>
            </a:extLst>
          </p:cNvPr>
          <p:cNvSpPr txBox="1"/>
          <p:nvPr/>
        </p:nvSpPr>
        <p:spPr>
          <a:xfrm>
            <a:off x="4183626" y="5769202"/>
            <a:ext cx="3195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051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225</TotalTime>
  <Words>769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Rockwell</vt:lpstr>
      <vt:lpstr>Segoe UI</vt:lpstr>
      <vt:lpstr>Damask</vt:lpstr>
      <vt:lpstr>Workforce Analytics &amp; Utilization Dashboard</vt:lpstr>
      <vt:lpstr>Business Problem Statement</vt:lpstr>
      <vt:lpstr>Dataset Overview</vt:lpstr>
      <vt:lpstr>Project Approach &amp; Architecture</vt:lpstr>
      <vt:lpstr>Executive Dashboard</vt:lpstr>
      <vt:lpstr>Productivity Analytics</vt:lpstr>
      <vt:lpstr>Attrition &amp; Workforce Health</vt:lpstr>
      <vt:lpstr>Key Business Insights</vt:lpstr>
      <vt:lpstr>Strategic Recommendations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K</dc:creator>
  <cp:lastModifiedBy>Aaryan Kumar</cp:lastModifiedBy>
  <cp:revision>28</cp:revision>
  <dcterms:created xsi:type="dcterms:W3CDTF">2026-06-27T19:24:25Z</dcterms:created>
  <dcterms:modified xsi:type="dcterms:W3CDTF">2026-06-28T19:23:09Z</dcterms:modified>
</cp:coreProperties>
</file>